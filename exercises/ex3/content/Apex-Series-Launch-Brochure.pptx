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F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01"/>
    <p:restoredTop sz="97767"/>
  </p:normalViewPr>
  <p:slideViewPr>
    <p:cSldViewPr snapToGrid="0" snapToObjects="1">
      <p:cViewPr>
        <p:scale>
          <a:sx n="164" d="100"/>
          <a:sy n="164" d="100"/>
        </p:scale>
        <p:origin x="1224" y="12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FDFDA-2D63-7E49-A404-F415EDB82C3C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572AE-10DA-5E47-A002-2B895A921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35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572AE-10DA-5E47-A002-2B895A921F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73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D716698-813F-407C-EEF4-E35152EB5F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23" t="3013" r="3097" b="535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B1A2B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457200" cy="2011680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14884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C2CEDC"/>
                </a:solidFill>
                <a:latin typeface="Arial"/>
              </a:rPr>
              <a:t>BestRun 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65176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7200" b="1" i="0" dirty="0">
                <a:solidFill>
                  <a:srgbClr val="FFFFFF"/>
                </a:solidFill>
                <a:latin typeface="Arial"/>
              </a:rPr>
              <a:t>Apex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41148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1">
                <a:solidFill>
                  <a:srgbClr val="C2CEDC"/>
                </a:solidFill>
                <a:latin typeface="Arial"/>
              </a:rPr>
              <a:t>The next generation of electric mobility. Now available to pre-order.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5120640"/>
            <a:ext cx="10058400" cy="2953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dirty="0">
                <a:solidFill>
                  <a:srgbClr val="E6FF3C"/>
                </a:solidFill>
                <a:latin typeface="Arial"/>
              </a:rPr>
              <a:t>DEALER LAUNCH BROCHURE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BestRun EV  |  Authorized Dealer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01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F69794-02F8-920A-9E32-E779BC3A2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1183" y="6695142"/>
            <a:ext cx="687469" cy="1506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850392"/>
            <a:ext cx="384048" cy="64008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8448" y="69494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6BFF"/>
                </a:solidFill>
                <a:latin typeface="Arial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Why the Apex Series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6949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1E6BFF"/>
                </a:solidFill>
                <a:latin typeface="Arial"/>
              </a:rPr>
              <a:t>▸  </a:t>
            </a:r>
            <a:r>
              <a:rPr sz="1900">
                <a:solidFill>
                  <a:srgbClr val="C2CEDC"/>
                </a:solidFill>
                <a:latin typeface="Arial"/>
              </a:rPr>
              <a:t>BestRun EV's most significant product line in five years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1E6BFF"/>
                </a:solidFill>
                <a:latin typeface="Arial"/>
              </a:rPr>
              <a:t>▸  </a:t>
            </a:r>
            <a:r>
              <a:rPr sz="1900">
                <a:solidFill>
                  <a:srgbClr val="C2CEDC"/>
                </a:solidFill>
                <a:latin typeface="Arial"/>
              </a:rPr>
              <a:t>Three new models spanning urban, adventure, and performance segments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1E6BFF"/>
                </a:solidFill>
                <a:latin typeface="Arial"/>
              </a:rPr>
              <a:t>▸  </a:t>
            </a:r>
            <a:r>
              <a:rPr sz="1900">
                <a:solidFill>
                  <a:srgbClr val="C2CEDC"/>
                </a:solidFill>
                <a:latin typeface="Arial"/>
              </a:rPr>
              <a:t>Launching in 90 days — pre-orders open now for authorized dealers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1E6BFF"/>
                </a:solidFill>
                <a:latin typeface="Arial"/>
              </a:rPr>
              <a:t>▸  </a:t>
            </a:r>
            <a:r>
              <a:rPr sz="1900">
                <a:solidFill>
                  <a:srgbClr val="C2CEDC"/>
                </a:solidFill>
                <a:latin typeface="Arial"/>
              </a:rPr>
              <a:t>Headline innovation: the Apex Pro's new LFP battery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2286000"/>
            <a:ext cx="3017520" cy="3108960"/>
          </a:xfrm>
          <a:prstGeom prst="rect">
            <a:avLst/>
          </a:prstGeom>
          <a:solidFill>
            <a:srgbClr val="12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21040" y="2286000"/>
            <a:ext cx="3017520" cy="109728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0" y="2651760"/>
            <a:ext cx="25603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Biggest sales
opportunity of
the year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endParaRPr sz="2200" b="1" i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C2CEDC"/>
                </a:solidFill>
                <a:latin typeface="Arial"/>
              </a:rPr>
              <a:t>for your dealership.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BestRun EV  |  Authorized Dealer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02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38DFEB-432A-97D4-FC3C-D5C9D578E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183" y="6695142"/>
            <a:ext cx="687469" cy="1506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758952"/>
            <a:ext cx="384048" cy="64008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8448" y="60350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6BFF"/>
                </a:solidFill>
                <a:latin typeface="Arial"/>
              </a:rPr>
              <a:t>THE LINEUP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The Range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3429000" cy="3931920"/>
          </a:xfrm>
          <a:prstGeom prst="rect">
            <a:avLst/>
          </a:prstGeom>
          <a:solidFill>
            <a:srgbClr val="12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pex-City.png"/>
          <p:cNvPicPr>
            <a:picLocks noChangeAspect="1"/>
          </p:cNvPicPr>
          <p:nvPr/>
        </p:nvPicPr>
        <p:blipFill>
          <a:blip r:embed="rId2"/>
          <a:srcRect l="166" r="166"/>
          <a:stretch>
            <a:fillRect/>
          </a:stretch>
        </p:blipFill>
        <p:spPr>
          <a:xfrm>
            <a:off x="822960" y="2103120"/>
            <a:ext cx="3429000" cy="1920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4023360"/>
            <a:ext cx="3429000" cy="82296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Apex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70916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6BFF"/>
                </a:solidFill>
                <a:latin typeface="Arial"/>
              </a:rPr>
              <a:t>Urban commuter scooter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12064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2CEDC"/>
                </a:solidFill>
                <a:latin typeface="Arial"/>
              </a:rPr>
              <a:t>Lightweight, city-optimized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5696" y="2103120"/>
            <a:ext cx="3429000" cy="3931920"/>
          </a:xfrm>
          <a:prstGeom prst="rect">
            <a:avLst/>
          </a:prstGeom>
          <a:solidFill>
            <a:srgbClr val="12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pex-Trail.png"/>
          <p:cNvPicPr>
            <a:picLocks noChangeAspect="1"/>
          </p:cNvPicPr>
          <p:nvPr/>
        </p:nvPicPr>
        <p:blipFill>
          <a:blip r:embed="rId3"/>
          <a:srcRect l="166" r="166"/>
          <a:stretch>
            <a:fillRect/>
          </a:stretch>
        </p:blipFill>
        <p:spPr>
          <a:xfrm>
            <a:off x="4425696" y="2103120"/>
            <a:ext cx="3429000" cy="19202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425696" y="4023360"/>
            <a:ext cx="3429000" cy="82296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4160520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Apex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470916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6BFF"/>
                </a:solidFill>
                <a:latin typeface="Arial"/>
              </a:rPr>
              <a:t>Adventure ebike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512064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2CEDC"/>
                </a:solidFill>
                <a:latin typeface="Arial"/>
              </a:rPr>
              <a:t>140 km range, all-terrain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1" y="2103120"/>
            <a:ext cx="3429000" cy="3931920"/>
          </a:xfrm>
          <a:prstGeom prst="rect">
            <a:avLst/>
          </a:prstGeom>
          <a:solidFill>
            <a:srgbClr val="12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pex-Pro.png"/>
          <p:cNvPicPr>
            <a:picLocks noChangeAspect="1"/>
          </p:cNvPicPr>
          <p:nvPr/>
        </p:nvPicPr>
        <p:blipFill>
          <a:blip r:embed="rId4"/>
          <a:srcRect l="166" r="166"/>
          <a:stretch>
            <a:fillRect/>
          </a:stretch>
        </p:blipFill>
        <p:spPr>
          <a:xfrm>
            <a:off x="8028431" y="2103120"/>
            <a:ext cx="3429000" cy="192024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028431" y="4023360"/>
            <a:ext cx="3429000" cy="82296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1" y="4160520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Apex 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470916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6BFF"/>
                </a:solidFill>
                <a:latin typeface="Arial"/>
              </a:rPr>
              <a:t>Performance ebike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512064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2CEDC"/>
                </a:solidFill>
                <a:latin typeface="Arial"/>
              </a:rPr>
              <a:t>200 km range, new LFP battery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BestRun EV  |  Authorized Dealer Program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03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5946B92-D4C7-88DF-571E-FB74DBEBC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1183" y="6695142"/>
            <a:ext cx="687469" cy="1506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ex-City.png"/>
          <p:cNvPicPr>
            <a:picLocks noChangeAspect="1"/>
          </p:cNvPicPr>
          <p:nvPr/>
        </p:nvPicPr>
        <p:blipFill>
          <a:blip r:embed="rId2"/>
          <a:srcRect l="31023" r="21475"/>
          <a:stretch>
            <a:fillRect/>
          </a:stretch>
        </p:blipFill>
        <p:spPr>
          <a:xfrm>
            <a:off x="6355080" y="0"/>
            <a:ext cx="58366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124712"/>
            <a:ext cx="384048" cy="64008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98448" y="96926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6BFF"/>
                </a:solidFill>
                <a:latin typeface="Arial"/>
              </a:rPr>
              <a:t>URBAN COMMUTER SCOOTER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5669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Apex 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600" b="1">
                <a:solidFill>
                  <a:srgbClr val="1E6BFF"/>
                </a:solidFill>
                <a:latin typeface="Arial"/>
              </a:rPr>
              <a:t>▸  </a:t>
            </a:r>
            <a:r>
              <a:rPr sz="1600">
                <a:solidFill>
                  <a:srgbClr val="C2CEDC"/>
                </a:solidFill>
                <a:latin typeface="Arial"/>
              </a:rPr>
              <a:t>City-optimized, lightweight design — easy handling and storage</a:t>
            </a:r>
          </a:p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600" b="1">
                <a:solidFill>
                  <a:srgbClr val="1E6BFF"/>
                </a:solidFill>
                <a:latin typeface="Arial"/>
              </a:rPr>
              <a:t>▸  </a:t>
            </a:r>
            <a:r>
              <a:rPr sz="1600">
                <a:solidFill>
                  <a:srgbClr val="C2CEDC"/>
                </a:solidFill>
                <a:latin typeface="Arial"/>
              </a:rPr>
              <a:t>Low maintenance, built for high-use urban riders</a:t>
            </a:r>
          </a:p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600" b="1">
                <a:solidFill>
                  <a:srgbClr val="1E6BFF"/>
                </a:solidFill>
                <a:latin typeface="Arial"/>
              </a:rPr>
              <a:t>▸  </a:t>
            </a:r>
            <a:r>
              <a:rPr sz="1600">
                <a:solidFill>
                  <a:srgbClr val="C2CEDC"/>
                </a:solidFill>
                <a:latin typeface="Arial"/>
              </a:rPr>
              <a:t>Ideal for urban commuters and last-mile delivery fleets</a:t>
            </a:r>
          </a:p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600" b="1">
                <a:solidFill>
                  <a:srgbClr val="1E6BFF"/>
                </a:solidFill>
                <a:latin typeface="Arial"/>
              </a:rPr>
              <a:t>▸  </a:t>
            </a:r>
            <a:r>
              <a:rPr sz="1600">
                <a:solidFill>
                  <a:srgbClr val="C2CEDC"/>
                </a:solidFill>
                <a:latin typeface="Arial"/>
              </a:rPr>
              <a:t>The accessible entry point into the Apex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BestRun EV  |  Authorized Dealer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04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EB33F4-A010-11B5-5B6A-BB5945942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1183" y="6695142"/>
            <a:ext cx="687469" cy="1506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ex-Trail.png"/>
          <p:cNvPicPr>
            <a:picLocks noChangeAspect="1"/>
          </p:cNvPicPr>
          <p:nvPr/>
        </p:nvPicPr>
        <p:blipFill>
          <a:blip r:embed="rId2"/>
          <a:srcRect l="26249" r="26249"/>
          <a:stretch>
            <a:fillRect/>
          </a:stretch>
        </p:blipFill>
        <p:spPr>
          <a:xfrm>
            <a:off x="6355080" y="0"/>
            <a:ext cx="58366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124712"/>
            <a:ext cx="384048" cy="64008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98448" y="96926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6BFF"/>
                </a:solidFill>
                <a:latin typeface="Arial"/>
              </a:rPr>
              <a:t>ADVENTURE EBIKE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5669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Apex Trail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600" b="1">
                <a:solidFill>
                  <a:srgbClr val="1E6BFF"/>
                </a:solidFill>
                <a:latin typeface="Arial"/>
              </a:rPr>
              <a:t>▸  </a:t>
            </a:r>
            <a:r>
              <a:rPr sz="1600">
                <a:solidFill>
                  <a:srgbClr val="C2CEDC"/>
                </a:solidFill>
                <a:latin typeface="Arial"/>
              </a:rPr>
              <a:t>140 km range for long weekend rides and touring</a:t>
            </a:r>
          </a:p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600" b="1">
                <a:solidFill>
                  <a:srgbClr val="1E6BFF"/>
                </a:solidFill>
                <a:latin typeface="Arial"/>
              </a:rPr>
              <a:t>▸  </a:t>
            </a:r>
            <a:r>
              <a:rPr sz="1600">
                <a:solidFill>
                  <a:srgbClr val="C2CEDC"/>
                </a:solidFill>
                <a:latin typeface="Arial"/>
              </a:rPr>
              <a:t>All-terrain capability with a durable aluminium frame</a:t>
            </a:r>
          </a:p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600" b="1">
                <a:solidFill>
                  <a:srgbClr val="1E6BFF"/>
                </a:solidFill>
                <a:latin typeface="Arial"/>
              </a:rPr>
              <a:t>▸  </a:t>
            </a:r>
            <a:r>
              <a:rPr sz="1600">
                <a:solidFill>
                  <a:srgbClr val="C2CEDC"/>
                </a:solidFill>
                <a:latin typeface="Arial"/>
              </a:rPr>
              <a:t>Built for outdoor enthusiasts and weekend riders</a:t>
            </a:r>
          </a:p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600" b="1">
                <a:solidFill>
                  <a:srgbClr val="1E6BFF"/>
                </a:solidFill>
                <a:latin typeface="Arial"/>
              </a:rPr>
              <a:t>▸  </a:t>
            </a:r>
            <a:r>
              <a:rPr sz="1600">
                <a:solidFill>
                  <a:srgbClr val="C2CEDC"/>
                </a:solidFill>
                <a:latin typeface="Arial"/>
              </a:rPr>
              <a:t>The versatile mid-range choice in the lineup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BestRun EV  |  Authorized Dealer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05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8124A6-035C-68DF-F94C-A0DB5AB42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1183" y="6695142"/>
            <a:ext cx="687469" cy="1506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ex-Pro.png"/>
          <p:cNvPicPr>
            <a:picLocks noChangeAspect="1"/>
          </p:cNvPicPr>
          <p:nvPr/>
        </p:nvPicPr>
        <p:blipFill>
          <a:blip r:embed="rId2"/>
          <a:srcRect l="23735" r="28763"/>
          <a:stretch>
            <a:fillRect/>
          </a:stretch>
        </p:blipFill>
        <p:spPr>
          <a:xfrm>
            <a:off x="6355080" y="0"/>
            <a:ext cx="58366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124712"/>
            <a:ext cx="384048" cy="64008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98448" y="96926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6BFF"/>
                </a:solidFill>
                <a:latin typeface="Arial"/>
              </a:rPr>
              <a:t>FLAGSHIP PERFORMANCE EBIKE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5669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Apex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600" b="1">
                <a:solidFill>
                  <a:srgbClr val="1E6BFF"/>
                </a:solidFill>
                <a:latin typeface="Arial"/>
              </a:rPr>
              <a:t>▸  </a:t>
            </a:r>
            <a:r>
              <a:rPr sz="1600">
                <a:solidFill>
                  <a:srgbClr val="C2CEDC"/>
                </a:solidFill>
                <a:latin typeface="Arial"/>
              </a:rPr>
              <a:t>200 km range — the longest in the BestRun EV lineup</a:t>
            </a:r>
          </a:p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600" b="1">
                <a:solidFill>
                  <a:srgbClr val="1E6BFF"/>
                </a:solidFill>
                <a:latin typeface="Arial"/>
              </a:rPr>
              <a:t>▸  </a:t>
            </a:r>
            <a:r>
              <a:rPr sz="1600">
                <a:solidFill>
                  <a:srgbClr val="C2CEDC"/>
                </a:solidFill>
                <a:latin typeface="Arial"/>
              </a:rPr>
              <a:t>New LFP (Lithium Iron Phosphate) battery system</a:t>
            </a:r>
          </a:p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600" b="1">
                <a:solidFill>
                  <a:srgbClr val="1E6BFF"/>
                </a:solidFill>
                <a:latin typeface="Arial"/>
              </a:rPr>
              <a:t>▸  </a:t>
            </a:r>
            <a:r>
              <a:rPr sz="1600">
                <a:solidFill>
                  <a:srgbClr val="C2CEDC"/>
                </a:solidFill>
                <a:latin typeface="Arial"/>
              </a:rPr>
              <a:t>Off-road performance with premium components throughout</a:t>
            </a:r>
          </a:p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600" b="1">
                <a:solidFill>
                  <a:srgbClr val="1E6BFF"/>
                </a:solidFill>
                <a:latin typeface="Arial"/>
              </a:rPr>
              <a:t>▸  </a:t>
            </a:r>
            <a:r>
              <a:rPr sz="1600">
                <a:solidFill>
                  <a:srgbClr val="C2CEDC"/>
                </a:solidFill>
                <a:latin typeface="Arial"/>
              </a:rPr>
              <a:t>BestRun EV's most advanced model to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BestRun EV  |  Authorized Dealer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06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F7ED20-BBF4-D0B2-9602-CFE0A42B3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1183" y="6695142"/>
            <a:ext cx="687469" cy="1506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ex-Pro.png"/>
          <p:cNvPicPr>
            <a:picLocks noChangeAspect="1"/>
          </p:cNvPicPr>
          <p:nvPr/>
        </p:nvPicPr>
        <p:blipFill>
          <a:blip r:embed="rId2"/>
          <a:srcRect l="25794" r="28811"/>
          <a:stretch>
            <a:fillRect/>
          </a:stretch>
        </p:blipFill>
        <p:spPr>
          <a:xfrm>
            <a:off x="0" y="0"/>
            <a:ext cx="55778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77840" y="0"/>
            <a:ext cx="6613855" cy="6858000"/>
          </a:xfrm>
          <a:prstGeom prst="rect">
            <a:avLst/>
          </a:prstGeom>
          <a:solidFill>
            <a:srgbClr val="0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35040" y="941832"/>
            <a:ext cx="384048" cy="64008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10527" y="78638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6BFF"/>
                </a:solidFill>
                <a:latin typeface="Arial"/>
              </a:rPr>
              <a:t>HEADLINE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188720"/>
            <a:ext cx="5760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Apex Pro Battery &amp;
Drive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74320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1E6BFF"/>
                </a:solidFill>
                <a:latin typeface="Arial"/>
              </a:rPr>
              <a:t>▸  </a:t>
            </a:r>
            <a:r>
              <a:rPr sz="1500">
                <a:solidFill>
                  <a:srgbClr val="C2CEDC"/>
                </a:solidFill>
                <a:latin typeface="Arial"/>
              </a:rPr>
              <a:t>Next-generation LFP battery — improved thermal stability and longer cycle life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1E6BFF"/>
                </a:solidFill>
                <a:latin typeface="Arial"/>
              </a:rPr>
              <a:t>▸  </a:t>
            </a:r>
            <a:r>
              <a:rPr sz="1500">
                <a:solidFill>
                  <a:srgbClr val="C2CEDC"/>
                </a:solidFill>
                <a:latin typeface="Arial"/>
              </a:rPr>
              <a:t>Range: 200 km in eco mode, 140 km in standard mode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1E6BFF"/>
                </a:solidFill>
                <a:latin typeface="Arial"/>
              </a:rPr>
              <a:t>▸  </a:t>
            </a:r>
            <a:r>
              <a:rPr sz="1500">
                <a:solidFill>
                  <a:srgbClr val="C2CEDC"/>
                </a:solidFill>
                <a:latin typeface="Arial"/>
              </a:rPr>
              <a:t>Fast charging: 0–80% in approximately 2.5 hours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1E6BFF"/>
                </a:solidFill>
                <a:latin typeface="Arial"/>
              </a:rPr>
              <a:t>▸  </a:t>
            </a:r>
            <a:r>
              <a:rPr sz="1500">
                <a:solidFill>
                  <a:srgbClr val="C2CEDC"/>
                </a:solidFill>
                <a:latin typeface="Arial"/>
              </a:rPr>
              <a:t>Integrated Battery Management System optimizes charge cycles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1E6BFF"/>
                </a:solidFill>
                <a:latin typeface="Arial"/>
              </a:rPr>
              <a:t>▸  </a:t>
            </a:r>
            <a:r>
              <a:rPr sz="1500">
                <a:solidFill>
                  <a:srgbClr val="C2CEDC"/>
                </a:solidFill>
                <a:latin typeface="Arial"/>
              </a:rPr>
              <a:t>Service interval: 5,000 km or annually, whichever comes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BestRun EV  |  Authorized Dealer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07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54AA40-6239-5D86-1637-BF23184DD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1183" y="6695142"/>
            <a:ext cx="687469" cy="1506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850392"/>
            <a:ext cx="384048" cy="64008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8448" y="69494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6BFF"/>
                </a:solidFill>
                <a:latin typeface="Arial"/>
              </a:rPr>
              <a:t>FOR DEALERS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Pre-Order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5166360" cy="1508760"/>
          </a:xfrm>
          <a:prstGeom prst="rect">
            <a:avLst/>
          </a:prstGeom>
          <a:solidFill>
            <a:srgbClr val="12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91440" cy="1508760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487168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Open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17520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2CEDC"/>
                </a:solidFill>
                <a:latin typeface="Arial"/>
              </a:rPr>
              <a:t>Pre-orders open ahead of the public 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286000"/>
            <a:ext cx="5166360" cy="1508760"/>
          </a:xfrm>
          <a:prstGeom prst="rect">
            <a:avLst/>
          </a:prstGeom>
          <a:solidFill>
            <a:srgbClr val="12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2286000"/>
            <a:ext cx="91440" cy="1508760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487168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Secure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17520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2CEDC"/>
                </a:solidFill>
                <a:latin typeface="Arial"/>
              </a:rPr>
              <a:t>Lock in early allocation for your dealership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23360"/>
            <a:ext cx="5166360" cy="1508760"/>
          </a:xfrm>
          <a:prstGeom prst="rect">
            <a:avLst/>
          </a:prstGeom>
          <a:solidFill>
            <a:srgbClr val="12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4023360"/>
            <a:ext cx="91440" cy="1508760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224528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Dealer terms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754880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2CEDC"/>
                </a:solidFill>
                <a:latin typeface="Arial"/>
              </a:rPr>
              <a:t>Pricing &amp; discount tiers in the Commercial Handbook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023360"/>
            <a:ext cx="5166360" cy="1508760"/>
          </a:xfrm>
          <a:prstGeom prst="rect">
            <a:avLst/>
          </a:prstGeom>
          <a:solidFill>
            <a:srgbClr val="12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4023360"/>
            <a:ext cx="91440" cy="1508760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4224528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Guaranteed 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754880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2CEDC"/>
                </a:solidFill>
                <a:latin typeface="Arial"/>
              </a:rPr>
              <a:t>Early commitment helps secure launch-day availability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BestRun EV  |  Authorized Dealer 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08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40D19E-E8E7-CCDE-0B23-3DFC93EE6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183" y="6695142"/>
            <a:ext cx="687469" cy="1506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850392"/>
            <a:ext cx="384048" cy="64008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8448" y="69494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6BFF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How to Get Started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30428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2CEDC"/>
                </a:solidFill>
                <a:latin typeface="Arial"/>
              </a:rPr>
              <a:t>Explore the Apex Series launch page in your BestRun EV Dealer Portal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154680"/>
            <a:ext cx="548640" cy="548640"/>
          </a:xfrm>
          <a:prstGeom prst="ellipse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17296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2CEDC"/>
                </a:solidFill>
                <a:latin typeface="Arial"/>
              </a:rPr>
              <a:t>Review the technical spec sheet and battery guide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023360"/>
            <a:ext cx="548640" cy="548640"/>
          </a:xfrm>
          <a:prstGeom prst="ellipse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04164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2CEDC"/>
                </a:solidFill>
                <a:latin typeface="Arial"/>
              </a:rPr>
              <a:t>Ask Joule any product or commercial question — answered instantly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892040"/>
            <a:ext cx="548640" cy="548640"/>
          </a:xfrm>
          <a:prstGeom prst="ellipse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910327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2CEDC"/>
                </a:solidFill>
                <a:latin typeface="Arial"/>
              </a:rPr>
              <a:t>Register your pre-order interest with your regional sales contact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solidFill>
            <a:srgbClr val="12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6016752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1">
                <a:solidFill>
                  <a:srgbClr val="FFFFFF"/>
                </a:solidFill>
                <a:latin typeface="Arial"/>
              </a:rPr>
              <a:t>Explore the full Apex Series in your dealer portal today.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BestRun EV  |  Authorized Dealer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BB0"/>
                </a:solidFill>
                <a:latin typeface="Arial"/>
              </a:rPr>
              <a:t>09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1AEA4-B3B8-F3F6-F4D4-B2111FB09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183" y="6695142"/>
            <a:ext cx="687469" cy="1506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ex-City.png"/>
          <p:cNvPicPr>
            <a:picLocks noChangeAspect="1"/>
          </p:cNvPicPr>
          <p:nvPr/>
        </p:nvPicPr>
        <p:blipFill>
          <a:blip r:embed="rId2"/>
          <a:srcRect l="21156" r="21156"/>
          <a:stretch>
            <a:fillRect/>
          </a:stretch>
        </p:blipFill>
        <p:spPr>
          <a:xfrm>
            <a:off x="0" y="0"/>
            <a:ext cx="4063898" cy="3931920"/>
          </a:xfrm>
          <a:prstGeom prst="rect">
            <a:avLst/>
          </a:prstGeom>
        </p:spPr>
      </p:pic>
      <p:pic>
        <p:nvPicPr>
          <p:cNvPr id="3" name="Picture 2" descr="Apex-Trail.png"/>
          <p:cNvPicPr>
            <a:picLocks noChangeAspect="1"/>
          </p:cNvPicPr>
          <p:nvPr/>
        </p:nvPicPr>
        <p:blipFill>
          <a:blip r:embed="rId3"/>
          <a:srcRect l="21156" r="21156"/>
          <a:stretch>
            <a:fillRect/>
          </a:stretch>
        </p:blipFill>
        <p:spPr>
          <a:xfrm>
            <a:off x="4063898" y="0"/>
            <a:ext cx="4063898" cy="3931920"/>
          </a:xfrm>
          <a:prstGeom prst="rect">
            <a:avLst/>
          </a:prstGeom>
        </p:spPr>
      </p:pic>
      <p:pic>
        <p:nvPicPr>
          <p:cNvPr id="4" name="Picture 3" descr="Apex-Pro.png"/>
          <p:cNvPicPr>
            <a:picLocks noChangeAspect="1"/>
          </p:cNvPicPr>
          <p:nvPr/>
        </p:nvPicPr>
        <p:blipFill>
          <a:blip r:embed="rId4"/>
          <a:srcRect l="21156" r="21156"/>
          <a:stretch>
            <a:fillRect/>
          </a:stretch>
        </p:blipFill>
        <p:spPr>
          <a:xfrm>
            <a:off x="8127796" y="0"/>
            <a:ext cx="4063898" cy="3931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0B1A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0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3931920"/>
            <a:ext cx="12191695" cy="109728"/>
          </a:xfrm>
          <a:prstGeom prst="rect">
            <a:avLst/>
          </a:prstGeom>
          <a:solidFill>
            <a:srgbClr val="1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438912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Apex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578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E6BFF"/>
                </a:solidFill>
                <a:latin typeface="Arial"/>
              </a:rPr>
              <a:t>Ride further. Sell smarter.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BB0"/>
                </a:solidFill>
                <a:latin typeface="Arial"/>
              </a:rPr>
              <a:t>BestRun EV  |  Authorized Dealer Program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580587-1C4C-615E-7622-D5A36BA37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1183" y="6695142"/>
            <a:ext cx="687469" cy="1506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483</Words>
  <Application>Microsoft Macintosh PowerPoint</Application>
  <PresentationFormat>Widescreen</PresentationFormat>
  <Paragraphs>92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Rupam Bhattacharya</cp:lastModifiedBy>
  <cp:revision>3</cp:revision>
  <dcterms:created xsi:type="dcterms:W3CDTF">2013-01-27T09:14:16Z</dcterms:created>
  <dcterms:modified xsi:type="dcterms:W3CDTF">2026-10-11T17:50:43Z</dcterms:modified>
  <cp:category/>
</cp:coreProperties>
</file>